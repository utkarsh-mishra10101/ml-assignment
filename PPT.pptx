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B2A4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2A4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2A4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B2A4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575" y="426338"/>
            <a:ext cx="7675245" cy="483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B2A4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204912"/>
            <a:ext cx="6386830" cy="1182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449309" y="4838925"/>
            <a:ext cx="254000" cy="177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8993A6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320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 marR="5080">
              <a:lnSpc>
                <a:spcPts val="4510"/>
              </a:lnSpc>
              <a:spcBef>
                <a:spcPts val="285"/>
              </a:spcBef>
            </a:pPr>
            <a:r>
              <a:rPr dirty="0" spc="-20"/>
              <a:t>E-</a:t>
            </a:r>
            <a:r>
              <a:rPr dirty="0"/>
              <a:t>Commerce</a:t>
            </a:r>
            <a:r>
              <a:rPr dirty="0" spc="-95"/>
              <a:t> </a:t>
            </a:r>
            <a:r>
              <a:rPr dirty="0"/>
              <a:t>Product</a:t>
            </a:r>
            <a:r>
              <a:rPr dirty="0" spc="-60"/>
              <a:t> </a:t>
            </a:r>
            <a:r>
              <a:rPr dirty="0" spc="-10"/>
              <a:t>Return 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75" y="2716148"/>
            <a:ext cx="5649595" cy="577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Who</a:t>
            </a:r>
            <a:r>
              <a:rPr dirty="0" sz="1800" spc="-5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returns</a:t>
            </a:r>
            <a:r>
              <a:rPr dirty="0" sz="180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products,</a:t>
            </a:r>
            <a:r>
              <a:rPr dirty="0" sz="1800" spc="-7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how</a:t>
            </a:r>
            <a:r>
              <a:rPr dirty="0" sz="1800" spc="-2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often,</a:t>
            </a:r>
            <a:r>
              <a:rPr dirty="0" sz="1800" spc="-7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and</a:t>
            </a:r>
            <a:r>
              <a:rPr dirty="0" sz="1800" spc="1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which</a:t>
            </a:r>
            <a:r>
              <a:rPr dirty="0" sz="1800" spc="-50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products</a:t>
            </a:r>
            <a:r>
              <a:rPr dirty="0" sz="1800" spc="-3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C9DCFB"/>
                </a:solidFill>
                <a:latin typeface="Calibri"/>
                <a:cs typeface="Calibri"/>
              </a:rPr>
              <a:t>come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solidFill>
                  <a:srgbClr val="C9DCFB"/>
                </a:solidFill>
                <a:latin typeface="Calibri"/>
                <a:cs typeface="Calibri"/>
              </a:rPr>
              <a:t>back</a:t>
            </a:r>
            <a:r>
              <a:rPr dirty="0" sz="1800" spc="-5">
                <a:solidFill>
                  <a:srgbClr val="C9DCFB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C9DCFB"/>
                </a:solidFill>
                <a:latin typeface="Calibri"/>
                <a:cs typeface="Calibri"/>
              </a:rPr>
              <a:t>most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575" y="4344352"/>
            <a:ext cx="3621404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5,000</a:t>
            </a:r>
            <a:r>
              <a:rPr dirty="0" sz="1250" spc="75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orders</a:t>
            </a:r>
            <a:r>
              <a:rPr dirty="0" sz="1250" spc="8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·</a:t>
            </a:r>
            <a:r>
              <a:rPr dirty="0" sz="1250" spc="2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2,447</a:t>
            </a:r>
            <a:r>
              <a:rPr dirty="0" sz="1250" spc="8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customers</a:t>
            </a:r>
            <a:r>
              <a:rPr dirty="0" sz="1250" spc="75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·</a:t>
            </a:r>
            <a:r>
              <a:rPr dirty="0" sz="1250" spc="11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Jan</a:t>
            </a:r>
            <a:r>
              <a:rPr dirty="0" sz="1250" spc="13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2024</a:t>
            </a:r>
            <a:r>
              <a:rPr dirty="0" sz="1250" spc="135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–</a:t>
            </a:r>
            <a:r>
              <a:rPr dirty="0" sz="1250" spc="7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8FA2C6"/>
                </a:solidFill>
                <a:latin typeface="Calibri"/>
                <a:cs typeface="Calibri"/>
              </a:rPr>
              <a:t>Aug</a:t>
            </a:r>
            <a:r>
              <a:rPr dirty="0" sz="1250" spc="50">
                <a:solidFill>
                  <a:srgbClr val="8FA2C6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8FA2C6"/>
                </a:solidFill>
                <a:latin typeface="Calibri"/>
                <a:cs typeface="Calibri"/>
              </a:rPr>
              <a:t>2025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Clothing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110"/>
              <a:t> </a:t>
            </a:r>
            <a:r>
              <a:rPr dirty="0"/>
              <a:t>repeat</a:t>
            </a:r>
            <a:r>
              <a:rPr dirty="0" spc="-35"/>
              <a:t> </a:t>
            </a:r>
            <a:r>
              <a:rPr dirty="0"/>
              <a:t>returners</a:t>
            </a:r>
            <a:r>
              <a:rPr dirty="0" spc="-80"/>
              <a:t> </a:t>
            </a:r>
            <a:r>
              <a:rPr dirty="0"/>
              <a:t>drive</a:t>
            </a:r>
            <a:r>
              <a:rPr dirty="0" spc="-70"/>
              <a:t> </a:t>
            </a:r>
            <a:r>
              <a:rPr dirty="0" spc="-10"/>
              <a:t>returns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427" y="1468450"/>
            <a:ext cx="6535622" cy="25445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6575" y="4550727"/>
            <a:ext cx="750062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Clothing</a:t>
            </a:r>
            <a:r>
              <a:rPr dirty="0" sz="1250" spc="7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+</a:t>
            </a:r>
            <a:r>
              <a:rPr dirty="0" sz="1250" spc="4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Electronics</a:t>
            </a:r>
            <a:r>
              <a:rPr dirty="0" sz="1250" spc="1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=</a:t>
            </a:r>
            <a:r>
              <a:rPr dirty="0" sz="1250" spc="12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61%</a:t>
            </a:r>
            <a:r>
              <a:rPr dirty="0" sz="1250" spc="6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of</a:t>
            </a:r>
            <a:r>
              <a:rPr dirty="0" sz="1250" spc="6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all</a:t>
            </a:r>
            <a:r>
              <a:rPr dirty="0" sz="1250" spc="8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returns.</a:t>
            </a:r>
            <a:r>
              <a:rPr dirty="0" sz="1250" spc="14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Customers</a:t>
            </a:r>
            <a:r>
              <a:rPr dirty="0" sz="1250" spc="1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with</a:t>
            </a:r>
            <a:r>
              <a:rPr dirty="0" sz="1250" spc="17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3+</a:t>
            </a:r>
            <a:r>
              <a:rPr dirty="0" sz="1250" spc="12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earlier</a:t>
            </a:r>
            <a:r>
              <a:rPr dirty="0" sz="1250" spc="7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returns</a:t>
            </a:r>
            <a:r>
              <a:rPr dirty="0" sz="1250" spc="2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returned</a:t>
            </a:r>
            <a:r>
              <a:rPr dirty="0" sz="1250" spc="8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every</a:t>
            </a:r>
            <a:r>
              <a:rPr dirty="0" sz="1250" spc="10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order</a:t>
            </a:r>
            <a:r>
              <a:rPr dirty="0" sz="1250" spc="8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(129</a:t>
            </a:r>
            <a:r>
              <a:rPr dirty="0" sz="1250" spc="1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5A6478"/>
                </a:solidFill>
                <a:latin typeface="Calibri"/>
                <a:cs typeface="Calibri"/>
              </a:rPr>
              <a:t>of</a:t>
            </a:r>
            <a:r>
              <a:rPr dirty="0" sz="1250" spc="6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5A6478"/>
                </a:solidFill>
                <a:latin typeface="Calibri"/>
                <a:cs typeface="Calibri"/>
              </a:rPr>
              <a:t>129).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dirty="0" spc="-80"/>
              <a:t> </a:t>
            </a:r>
            <a:r>
              <a:rPr dirty="0"/>
              <a:t>raises</a:t>
            </a:r>
            <a:r>
              <a:rPr dirty="0" spc="-55"/>
              <a:t> </a:t>
            </a:r>
            <a:r>
              <a:rPr dirty="0"/>
              <a:t>return</a:t>
            </a:r>
            <a:r>
              <a:rPr dirty="0" spc="-40"/>
              <a:t> </a:t>
            </a:r>
            <a:r>
              <a:rPr dirty="0" spc="-20"/>
              <a:t>risk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3390" y="1321180"/>
            <a:ext cx="628650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25" b="1">
                <a:solidFill>
                  <a:srgbClr val="EB6834"/>
                </a:solidFill>
                <a:latin typeface="Cambria"/>
                <a:cs typeface="Cambria"/>
              </a:rPr>
              <a:t>64%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01559" y="1321815"/>
            <a:ext cx="1365250" cy="35941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returned</a:t>
            </a:r>
            <a:r>
              <a:rPr dirty="0" sz="1100" spc="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when</a:t>
            </a:r>
            <a:r>
              <a:rPr dirty="0" sz="1100" spc="10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delivery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takes</a:t>
            </a:r>
            <a:r>
              <a:rPr dirty="0" sz="1100" spc="-30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7+ </a:t>
            </a:r>
            <a:r>
              <a:rPr dirty="0" sz="1100" spc="-20">
                <a:solidFill>
                  <a:srgbClr val="1B2A41"/>
                </a:solidFill>
                <a:latin typeface="Calibri"/>
                <a:cs typeface="Calibri"/>
              </a:rPr>
              <a:t>days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419" y="1887623"/>
            <a:ext cx="2466557" cy="22282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6241" y="2007465"/>
            <a:ext cx="2312714" cy="20798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03390" y="2099944"/>
            <a:ext cx="628650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25" b="1">
                <a:solidFill>
                  <a:srgbClr val="EB6834"/>
                </a:solidFill>
                <a:latin typeface="Cambria"/>
                <a:cs typeface="Cambria"/>
              </a:rPr>
              <a:t>62%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1559" y="2016061"/>
            <a:ext cx="1305560" cy="5314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30"/>
              </a:spcBef>
            </a:pP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returned</a:t>
            </a:r>
            <a:r>
              <a:rPr dirty="0" sz="1100" spc="-40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for</a:t>
            </a:r>
            <a:r>
              <a:rPr dirty="0" sz="1100" spc="1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sellers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rated</a:t>
            </a:r>
            <a:r>
              <a:rPr dirty="0" sz="1100" spc="-3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≤3.5</a:t>
            </a:r>
            <a:r>
              <a:rPr dirty="0" sz="1100" spc="-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(39%</a:t>
            </a:r>
            <a:r>
              <a:rPr dirty="0" sz="1100" spc="-20">
                <a:solidFill>
                  <a:srgbClr val="1B2A41"/>
                </a:solidFill>
                <a:latin typeface="Calibri"/>
                <a:cs typeface="Calibri"/>
              </a:rPr>
              <a:t> above 4.5)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3390" y="2879153"/>
            <a:ext cx="628650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25" b="1">
                <a:solidFill>
                  <a:srgbClr val="EB6834"/>
                </a:solidFill>
                <a:latin typeface="Cambria"/>
                <a:cs typeface="Cambria"/>
              </a:rPr>
              <a:t>54%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1559" y="2878772"/>
            <a:ext cx="1219835" cy="3600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non-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Prime</a:t>
            </a:r>
            <a:r>
              <a:rPr dirty="0" sz="1100" spc="-40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returns</a:t>
            </a:r>
            <a:r>
              <a:rPr dirty="0" sz="1100" spc="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B2A41"/>
                </a:solidFill>
                <a:latin typeface="Calibri"/>
                <a:cs typeface="Calibri"/>
              </a:rPr>
              <a:t>vs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300"/>
              </a:lnSpc>
            </a:pP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45%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for</a:t>
            </a:r>
            <a:r>
              <a:rPr dirty="0" sz="1100" spc="2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Prime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3390" y="3657282"/>
            <a:ext cx="790575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20" b="1">
                <a:solidFill>
                  <a:srgbClr val="8993A6"/>
                </a:solidFill>
                <a:latin typeface="Cambria"/>
                <a:cs typeface="Cambria"/>
              </a:rPr>
              <a:t>~50%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1559" y="3657282"/>
            <a:ext cx="1395095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shipping</a:t>
            </a:r>
            <a:r>
              <a:rPr dirty="0" sz="1100" spc="-2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type, 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payment, </a:t>
            </a:r>
            <a:r>
              <a:rPr dirty="0" sz="1100">
                <a:solidFill>
                  <a:srgbClr val="1B2A41"/>
                </a:solidFill>
                <a:latin typeface="Calibri"/>
                <a:cs typeface="Calibri"/>
              </a:rPr>
              <a:t>weekday: no</a:t>
            </a:r>
            <a:r>
              <a:rPr dirty="0" sz="1100" spc="-55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B2A41"/>
                </a:solidFill>
                <a:latin typeface="Calibri"/>
                <a:cs typeface="Calibri"/>
              </a:rPr>
              <a:t>effect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Predictable</a:t>
            </a:r>
            <a:r>
              <a:rPr dirty="0" spc="-50"/>
              <a:t> </a:t>
            </a:r>
            <a:r>
              <a:rPr dirty="0"/>
              <a:t>returns,</a:t>
            </a:r>
            <a:r>
              <a:rPr dirty="0" spc="580"/>
              <a:t> </a:t>
            </a:r>
            <a:r>
              <a:rPr dirty="0"/>
              <a:t>clear</a:t>
            </a:r>
            <a:r>
              <a:rPr dirty="0" spc="-65"/>
              <a:t> </a:t>
            </a:r>
            <a:r>
              <a:rPr dirty="0" spc="-10"/>
              <a:t>actions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629716"/>
            <a:ext cx="4104518" cy="24252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82970" y="1223581"/>
            <a:ext cx="2336165" cy="2513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Audit</a:t>
            </a:r>
            <a:r>
              <a:rPr dirty="0" sz="1250" spc="55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Clothing</a:t>
            </a:r>
            <a:r>
              <a:rPr dirty="0" sz="1250" spc="13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and</a:t>
            </a:r>
            <a:r>
              <a:rPr dirty="0" sz="1250" spc="12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B2A41"/>
                </a:solidFill>
                <a:latin typeface="Calibri"/>
                <a:cs typeface="Calibri"/>
              </a:rPr>
              <a:t>Electronics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listings,</a:t>
            </a:r>
            <a:r>
              <a:rPr dirty="0" sz="1100" spc="-3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sizing</a:t>
            </a:r>
            <a:r>
              <a:rPr dirty="0" sz="1100" spc="-4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and</a:t>
            </a:r>
            <a:r>
              <a:rPr dirty="0" sz="1100" spc="-3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quality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Flag</a:t>
            </a:r>
            <a:r>
              <a:rPr dirty="0" sz="1250" spc="7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repeat</a:t>
            </a:r>
            <a:r>
              <a:rPr dirty="0" sz="1250" spc="85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B2A41"/>
                </a:solidFill>
                <a:latin typeface="Calibri"/>
                <a:cs typeface="Calibri"/>
              </a:rPr>
              <a:t>returners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2+</a:t>
            </a:r>
            <a:r>
              <a:rPr dirty="0" sz="1100" spc="-5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past</a:t>
            </a: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returns:</a:t>
            </a:r>
            <a:r>
              <a:rPr dirty="0" sz="1100" spc="7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5A6478"/>
                </a:solidFill>
                <a:latin typeface="Calibri"/>
                <a:cs typeface="Calibri"/>
              </a:rPr>
              <a:t>92–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100%</a:t>
            </a:r>
            <a:r>
              <a:rPr dirty="0" sz="1100" spc="-7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return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Rethink</a:t>
            </a:r>
            <a:r>
              <a:rPr dirty="0" sz="1250" spc="11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deep</a:t>
            </a:r>
            <a:r>
              <a:rPr dirty="0" sz="1250" spc="12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B2A41"/>
                </a:solidFill>
                <a:latin typeface="Calibri"/>
                <a:cs typeface="Calibri"/>
              </a:rPr>
              <a:t>discounts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63–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70%</a:t>
            </a:r>
            <a:r>
              <a:rPr dirty="0" sz="1100" spc="-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return</a:t>
            </a:r>
            <a:r>
              <a:rPr dirty="0" sz="1100" spc="-1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at</a:t>
            </a:r>
            <a:r>
              <a:rPr dirty="0" sz="1100" spc="-3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25–30% </a:t>
            </a:r>
            <a:r>
              <a:rPr dirty="0" sz="1100" spc="-25">
                <a:solidFill>
                  <a:srgbClr val="5A6478"/>
                </a:solidFill>
                <a:latin typeface="Calibri"/>
                <a:cs typeface="Calibri"/>
              </a:rPr>
              <a:t>off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Fix</a:t>
            </a:r>
            <a:r>
              <a:rPr dirty="0" sz="1250" spc="6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slow</a:t>
            </a:r>
            <a:r>
              <a:rPr dirty="0" sz="1250" spc="7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delivery</a:t>
            </a:r>
            <a:r>
              <a:rPr dirty="0" sz="1250" spc="125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and</a:t>
            </a:r>
            <a:r>
              <a:rPr dirty="0" sz="1250" spc="12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B2A41"/>
                </a:solidFill>
                <a:latin typeface="Calibri"/>
                <a:cs typeface="Calibri"/>
              </a:rPr>
              <a:t>weak</a:t>
            </a:r>
            <a:r>
              <a:rPr dirty="0" sz="1250" spc="30" b="1">
                <a:solidFill>
                  <a:srgbClr val="1B2A41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1B2A41"/>
                </a:solidFill>
                <a:latin typeface="Calibri"/>
                <a:cs typeface="Calibri"/>
              </a:rPr>
              <a:t>sellers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64%</a:t>
            </a:r>
            <a:r>
              <a:rPr dirty="0" sz="1100" spc="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at</a:t>
            </a: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7+</a:t>
            </a:r>
            <a:r>
              <a:rPr dirty="0" sz="1100" spc="-4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days;</a:t>
            </a:r>
            <a:r>
              <a:rPr dirty="0" sz="1100" spc="6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62%</a:t>
            </a:r>
            <a:r>
              <a:rPr dirty="0" sz="1100" spc="-6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for</a:t>
            </a:r>
            <a:r>
              <a:rPr dirty="0" sz="1100" spc="-30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5A6478"/>
                </a:solidFill>
                <a:latin typeface="Calibri"/>
                <a:cs typeface="Calibri"/>
              </a:rPr>
              <a:t>≤3.5</a:t>
            </a:r>
            <a:r>
              <a:rPr dirty="0" sz="1100" spc="-55">
                <a:solidFill>
                  <a:srgbClr val="5A6478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5A6478"/>
                </a:solidFill>
                <a:latin typeface="Calibri"/>
                <a:cs typeface="Calibri"/>
              </a:rPr>
              <a:t>rating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575" y="4474209"/>
            <a:ext cx="755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0">
                <a:solidFill>
                  <a:srgbClr val="5A6478"/>
                </a:solidFill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2026-10-24T22:15:56Z</dcterms:created>
  <dcterms:modified xsi:type="dcterms:W3CDTF">2026-10-24T22:15:56Z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2026-10-23T00:00:00Z</vt:filetime>
  </property>
  <property fmtid="{D5CDD505-2E9C-101B-9397-08002B2CF9AE}" pid="4" name="LastSaved">
    <vt:filetime>2026-10-24T00:00:00Z</vt:filetime>
  </property>
</Properties>
</file>